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00" r:id="rId1"/>
  </p:sldMasterIdLst>
  <p:notesMasterIdLst>
    <p:notesMasterId r:id="rId4"/>
  </p:notesMasterIdLst>
  <p:handoutMasterIdLst>
    <p:handoutMasterId r:id="rId5"/>
  </p:handoutMasterIdLst>
  <p:sldIdLst>
    <p:sldId id="8938" r:id="rId2"/>
    <p:sldId id="5853" r:id="rId3"/>
  </p:sldIdLst>
  <p:sldSz cx="9906000" cy="6858000" type="A4"/>
  <p:notesSz cx="7104063" cy="10234613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9pPr>
  </p:defaultTextStyle>
  <p:extLst>
    <p:ext uri="{EFAFB233-063F-42B5-8137-9DF3F51BA10A}">
      <p15:sldGuideLst xmlns:p15="http://schemas.microsoft.com/office/powerpoint/2012/main">
        <p15:guide id="2" orient="horz" pos="4110" userDrawn="1">
          <p15:clr>
            <a:srgbClr val="A4A3A4"/>
          </p15:clr>
        </p15:guide>
        <p15:guide id="5" orient="horz" userDrawn="1">
          <p15:clr>
            <a:srgbClr val="A4A3A4"/>
          </p15:clr>
        </p15:guide>
        <p15:guide id="6" orient="horz" pos="210">
          <p15:clr>
            <a:srgbClr val="A4A3A4"/>
          </p15:clr>
        </p15:guide>
        <p15:guide id="7" pos="58" userDrawn="1">
          <p15:clr>
            <a:srgbClr val="A4A3A4"/>
          </p15:clr>
        </p15:guide>
        <p15:guide id="8" pos="6068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172" userDrawn="1">
          <p15:clr>
            <a:srgbClr val="A4A3A4"/>
          </p15:clr>
        </p15:guide>
        <p15:guide id="13" orient="horz" pos="4088" userDrawn="1">
          <p15:clr>
            <a:srgbClr val="A4A3A4"/>
          </p15:clr>
        </p15:guide>
        <p15:guide id="14" pos="126">
          <p15:clr>
            <a:srgbClr val="A4A3A4"/>
          </p15:clr>
        </p15:guide>
        <p15:guide id="15" orient="horz" pos="504" userDrawn="1">
          <p15:clr>
            <a:srgbClr val="A4A3A4"/>
          </p15:clr>
        </p15:guide>
        <p15:guide id="16" orient="horz" pos="405" userDrawn="1">
          <p15:clr>
            <a:srgbClr val="A4A3A4"/>
          </p15:clr>
        </p15:guide>
        <p15:guide id="17" orient="horz" pos="1162" userDrawn="1">
          <p15:clr>
            <a:srgbClr val="A4A3A4"/>
          </p15:clr>
        </p15:guide>
        <p15:guide id="18" pos="2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2F2F2"/>
    <a:srgbClr val="7F7F7F"/>
    <a:srgbClr val="FFFFFF"/>
    <a:srgbClr val="F0F0F0"/>
    <a:srgbClr val="388FA7"/>
    <a:srgbClr val="0DCD64"/>
    <a:srgbClr val="F38F15"/>
    <a:srgbClr val="8EB4E3"/>
    <a:srgbClr val="4A7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CB5760-30D3-40A3-8B3D-44DD370D487C}" v="2" dt="2025-07-29T03:50:26.67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39" autoAdjust="0"/>
    <p:restoredTop sz="86465" autoAdjust="0"/>
  </p:normalViewPr>
  <p:slideViewPr>
    <p:cSldViewPr snapToGrid="0" snapToObjects="1" showGuides="1">
      <p:cViewPr varScale="1">
        <p:scale>
          <a:sx n="136" d="100"/>
          <a:sy n="136" d="100"/>
        </p:scale>
        <p:origin x="2216" y="488"/>
      </p:cViewPr>
      <p:guideLst>
        <p:guide orient="horz" pos="4110"/>
        <p:guide orient="horz"/>
        <p:guide orient="horz" pos="210"/>
        <p:guide pos="58"/>
        <p:guide pos="6068"/>
        <p:guide pos="3097"/>
        <p:guide pos="172"/>
        <p:guide orient="horz" pos="4088"/>
        <p:guide pos="126"/>
        <p:guide orient="horz" pos="504"/>
        <p:guide orient="horz" pos="405"/>
        <p:guide orient="horz" pos="1162"/>
        <p:guide pos="2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3384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-1644" y="-120"/>
      </p:cViewPr>
      <p:guideLst>
        <p:guide orient="horz" pos="3224"/>
        <p:guide pos="2235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7" y="7"/>
            <a:ext cx="3075551" cy="511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8515" y="7"/>
            <a:ext cx="3075551" cy="511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7" y="9722885"/>
            <a:ext cx="3075551" cy="511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8515" y="9722885"/>
            <a:ext cx="3075551" cy="511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D8414D26-1A5B-4156-888F-DCC378C60C78}" type="slidenum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9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9"/>
            <a:ext cx="3050160" cy="496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42062" y="9"/>
            <a:ext cx="3050160" cy="496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85813" y="746125"/>
            <a:ext cx="5608637" cy="3884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5727" y="4879485"/>
            <a:ext cx="5262456" cy="4625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754046"/>
            <a:ext cx="3050160" cy="495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42062" y="9754046"/>
            <a:ext cx="3050160" cy="495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98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06"/>
            <a:ext cx="9906000" cy="6238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757" y="6353994"/>
            <a:ext cx="1722052" cy="3960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29778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2AD1B8-C8BE-00BD-E1CA-FB95425E69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22388" y="1758950"/>
            <a:ext cx="7464425" cy="4035425"/>
          </a:xfrm>
          <a:prstGeom prst="rect">
            <a:avLst/>
          </a:prstGeom>
        </p:spPr>
        <p:txBody>
          <a:bodyPr/>
          <a:lstStyle>
            <a:lvl1pPr marL="625475" indent="-625475">
              <a:spcBef>
                <a:spcPts val="1200"/>
              </a:spcBef>
              <a:buFont typeface="+mj-lt"/>
              <a:buAutoNum type="romanUcPeriod"/>
              <a:defRPr sz="2800" b="1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410166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2025.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058" y="6588750"/>
            <a:ext cx="939299" cy="216000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22627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357188" indent="-195263">
              <a:lnSpc>
                <a:spcPts val="2000"/>
              </a:lnSpc>
              <a:defRPr sz="1200"/>
            </a:lvl2pPr>
          </a:lstStyle>
          <a:p>
            <a:pPr lvl="0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endParaRPr lang="ko-KR" altLang="en-US" dirty="0"/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86182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63"/>
            <a:ext cx="9906000" cy="6238875"/>
          </a:xfrm>
          <a:prstGeom prst="rect">
            <a:avLst/>
          </a:prstGeom>
        </p:spPr>
      </p:pic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5733086" y="4536505"/>
            <a:ext cx="4056451" cy="13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㈜이씨마이너</a:t>
            </a:r>
            <a:endParaRPr lang="en-US" altLang="ko-KR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endParaRPr lang="en-US" altLang="ko-KR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서울특별시 강남구 </a:t>
            </a:r>
            <a:r>
              <a:rPr lang="ko-KR" altLang="en-US" sz="1200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논현로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54, 4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Tel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02-552-5266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Fax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02-566-0768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- http://www.ecminer.com</a:t>
            </a: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gray">
          <a:xfrm>
            <a:off x="56456" y="6431765"/>
            <a:ext cx="770485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+mn-ea"/>
                <a:ea typeface="+mn-ea"/>
              </a:rPr>
              <a:t>본 문서는 </a:t>
            </a:r>
            <a:r>
              <a:rPr lang="en-US" altLang="ko-KR" sz="1000" b="1" dirty="0">
                <a:latin typeface="+mn-ea"/>
                <a:ea typeface="+mn-ea"/>
              </a:rPr>
              <a:t>㈜</a:t>
            </a:r>
            <a:r>
              <a:rPr lang="ko-KR" altLang="en-US" sz="1000" b="1" dirty="0">
                <a:latin typeface="+mn-ea"/>
                <a:ea typeface="+mn-ea"/>
              </a:rPr>
              <a:t>이씨마이너의 기밀정보 및 영업비밀을 포함하고 있으므로</a:t>
            </a:r>
            <a:r>
              <a:rPr lang="en-US" altLang="ko-KR" sz="1000" b="1" dirty="0">
                <a:latin typeface="+mn-ea"/>
                <a:ea typeface="+mn-ea"/>
              </a:rPr>
              <a:t>, </a:t>
            </a:r>
            <a:r>
              <a:rPr lang="ko-KR" altLang="en-US" sz="1000" b="1" dirty="0">
                <a:latin typeface="+mn-ea"/>
                <a:ea typeface="+mn-ea"/>
              </a:rPr>
              <a:t>제공된 목적 외에 무단으로 복제되거나</a:t>
            </a: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배포될 수 없습니다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375123" y="2331628"/>
            <a:ext cx="3153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0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r>
              <a:rPr lang="en-US" altLang="ko-KR" sz="44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4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97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69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0" r:id="rId2"/>
    <p:sldLayoutId id="2147483808" r:id="rId3"/>
    <p:sldLayoutId id="2147483804" r:id="rId4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E571B-5EAB-0B75-6C08-D2029F9AD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5D0F5A7-22E8-3A79-DA2A-3547AE41AB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수요기업</a:t>
            </a:r>
            <a:r>
              <a:rPr lang="en-US" altLang="ko-KR" dirty="0"/>
              <a:t> : (</a:t>
            </a:r>
            <a:r>
              <a:rPr lang="ko-KR" altLang="en-US" dirty="0"/>
              <a:t>주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ko-KR" altLang="en-US" dirty="0" err="1"/>
              <a:t>뉴로메카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포항공장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13CA94-908B-EE9E-65C7-6A3C67A551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 err="1"/>
              <a:t>뉴로메카는</a:t>
            </a:r>
            <a:r>
              <a:rPr lang="ko-KR" altLang="en-US" dirty="0"/>
              <a:t> </a:t>
            </a:r>
            <a:r>
              <a:rPr lang="ko-KR" altLang="en-US" b="1" dirty="0"/>
              <a:t>대한민국을 대표하는 로봇 자동화 솔루션 전문기업</a:t>
            </a:r>
            <a:r>
              <a:rPr lang="ko-KR" altLang="en-US" dirty="0"/>
              <a:t>으로</a:t>
            </a:r>
            <a:r>
              <a:rPr lang="en-US" altLang="ko-KR" dirty="0"/>
              <a:t>, 2013</a:t>
            </a:r>
            <a:r>
              <a:rPr lang="ko-KR" altLang="en-US" dirty="0"/>
              <a:t>년에 설립되어 </a:t>
            </a:r>
            <a:r>
              <a:rPr lang="ko-KR" altLang="en-US" b="1" dirty="0"/>
              <a:t>협동로봇</a:t>
            </a:r>
            <a:r>
              <a:rPr lang="en-US" altLang="ko-KR" b="1" dirty="0"/>
              <a:t>, </a:t>
            </a:r>
            <a:r>
              <a:rPr lang="ko-KR" altLang="en-US" b="1" dirty="0"/>
              <a:t>자율이동로봇</a:t>
            </a:r>
            <a:r>
              <a:rPr lang="en-US" altLang="ko-KR" b="1" dirty="0"/>
              <a:t>, </a:t>
            </a:r>
            <a:r>
              <a:rPr lang="ko-KR" altLang="en-US" b="1" dirty="0"/>
              <a:t>델타로봇</a:t>
            </a:r>
            <a:r>
              <a:rPr lang="en-US" altLang="ko-KR" b="1" dirty="0"/>
              <a:t>, </a:t>
            </a:r>
            <a:r>
              <a:rPr lang="ko-KR" altLang="en-US" b="1" dirty="0"/>
              <a:t>스마트 </a:t>
            </a:r>
            <a:r>
              <a:rPr lang="ko-KR" altLang="en-US" b="1" dirty="0" err="1"/>
              <a:t>액츄에이터</a:t>
            </a:r>
            <a:r>
              <a:rPr lang="ko-KR" altLang="en-US" dirty="0"/>
              <a:t> 등 다양한 산업용 로봇을 자체 개발</a:t>
            </a:r>
            <a:r>
              <a:rPr lang="en-US" altLang="ko-KR" dirty="0"/>
              <a:t>·</a:t>
            </a:r>
            <a:r>
              <a:rPr lang="ko-KR" altLang="en-US" dirty="0"/>
              <a:t>제조하고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</a:t>
            </a:r>
            <a:r>
              <a:rPr lang="en-US" altLang="ko-KR" dirty="0"/>
              <a:t> </a:t>
            </a:r>
            <a:r>
              <a:rPr lang="en-US" altLang="ko-KR" b="1" dirty="0"/>
              <a:t>RaaS(Robot as a Service)</a:t>
            </a:r>
            <a:r>
              <a:rPr lang="ko-KR" altLang="en-US" dirty="0"/>
              <a:t> 모델을 통해 중소기업도 쉽게 로봇 자동화를 도입할 수 있도록 지원하고 있으며</a:t>
            </a:r>
            <a:r>
              <a:rPr lang="en-US" altLang="ko-KR" dirty="0"/>
              <a:t>, </a:t>
            </a:r>
            <a:r>
              <a:rPr lang="ko-KR" altLang="en-US" b="1" dirty="0"/>
              <a:t>인텔리전트 팩토리 구축</a:t>
            </a:r>
            <a:r>
              <a:rPr lang="ko-KR" altLang="en-US" dirty="0"/>
              <a:t>과 </a:t>
            </a:r>
            <a:r>
              <a:rPr lang="en-US" altLang="ko-KR" b="1" dirty="0"/>
              <a:t>AI </a:t>
            </a:r>
            <a:r>
              <a:rPr lang="ko-KR" altLang="en-US" b="1" dirty="0"/>
              <a:t>융합 로봇 솔루션</a:t>
            </a:r>
            <a:r>
              <a:rPr lang="ko-KR" altLang="en-US" dirty="0"/>
              <a:t>을 통해 글로벌 시장으로 시장 확대 중 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ko-KR" sz="1200" dirty="0">
                <a:latin typeface="맑은 고딕" panose="020B0503020000020004" pitchFamily="50" charset="-127"/>
              </a:rPr>
              <a:t>🏭 </a:t>
            </a:r>
            <a:r>
              <a:rPr lang="ko-KR" altLang="ko-KR" sz="1200" b="1" dirty="0">
                <a:latin typeface="맑은 고딕" panose="020B0503020000020004" pitchFamily="50" charset="-127"/>
              </a:rPr>
              <a:t>핵심 제품 라인업</a:t>
            </a:r>
            <a:endParaRPr lang="en-US" altLang="ko-KR" sz="1200" b="1" dirty="0">
              <a:latin typeface="맑은 고딕" panose="020B0503020000020004" pitchFamily="50" charset="-127"/>
            </a:endParaRPr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🤖 </a:t>
            </a:r>
            <a:r>
              <a:rPr lang="ko-KR" altLang="en-US" sz="1200" b="1" dirty="0"/>
              <a:t>로봇 </a:t>
            </a:r>
            <a:r>
              <a:rPr lang="ko-KR" altLang="en-US" sz="1200" b="1" dirty="0" err="1"/>
              <a:t>액츄에이터란</a:t>
            </a:r>
            <a:r>
              <a:rPr lang="en-US" altLang="ko-KR" sz="1200" b="1" dirty="0"/>
              <a:t>?</a:t>
            </a:r>
            <a:endParaRPr lang="ko-KR" altLang="en-US" sz="1200" dirty="0"/>
          </a:p>
          <a:p>
            <a:r>
              <a:rPr lang="ko-KR" altLang="en-US" sz="1200" dirty="0"/>
              <a:t>로봇 </a:t>
            </a:r>
            <a:r>
              <a:rPr lang="ko-KR" altLang="en-US" sz="1200" dirty="0" err="1"/>
              <a:t>액츄에이터</a:t>
            </a:r>
            <a:r>
              <a:rPr lang="en-US" altLang="ko-KR" sz="1200" dirty="0"/>
              <a:t>(Actuator)</a:t>
            </a:r>
            <a:r>
              <a:rPr lang="ko-KR" altLang="en-US" sz="1200" dirty="0"/>
              <a:t>는 로봇의 </a:t>
            </a:r>
            <a:r>
              <a:rPr lang="ko-KR" altLang="en-US" sz="1200" b="1" dirty="0"/>
              <a:t>관절이나 움직임을 실제로 구현하는 핵심 부품</a:t>
            </a:r>
            <a:r>
              <a:rPr lang="ko-KR" altLang="en-US" sz="1200" dirty="0"/>
              <a:t>이에요</a:t>
            </a:r>
            <a:r>
              <a:rPr lang="en-US" altLang="ko-KR" sz="1200" dirty="0"/>
              <a:t>. </a:t>
            </a:r>
            <a:r>
              <a:rPr lang="ko-KR" altLang="en-US" sz="1200" dirty="0"/>
              <a:t>쉽게 말해</a:t>
            </a:r>
            <a:r>
              <a:rPr lang="en-US" altLang="ko-KR" sz="1200" dirty="0"/>
              <a:t>, </a:t>
            </a:r>
            <a:r>
              <a:rPr lang="ko-KR" altLang="en-US" sz="1200" dirty="0"/>
              <a:t>로봇의 </a:t>
            </a:r>
            <a:r>
              <a:rPr lang="en-US" altLang="ko-KR" sz="1200" dirty="0"/>
              <a:t>"</a:t>
            </a:r>
            <a:r>
              <a:rPr lang="ko-KR" altLang="en-US" sz="1200" dirty="0"/>
              <a:t>근육</a:t>
            </a:r>
            <a:r>
              <a:rPr lang="en-US" altLang="ko-KR" sz="1200" dirty="0"/>
              <a:t>" </a:t>
            </a:r>
            <a:r>
              <a:rPr lang="ko-KR" altLang="en-US" sz="1200" dirty="0"/>
              <a:t>역할을 하며</a:t>
            </a:r>
            <a:r>
              <a:rPr lang="en-US" altLang="ko-KR" sz="1200" dirty="0"/>
              <a:t>, </a:t>
            </a:r>
            <a:r>
              <a:rPr lang="ko-KR" altLang="en-US" sz="1200" dirty="0"/>
              <a:t>전기</a:t>
            </a:r>
            <a:r>
              <a:rPr lang="en-US" altLang="ko-KR" sz="1200" dirty="0"/>
              <a:t>·</a:t>
            </a:r>
            <a:r>
              <a:rPr lang="ko-KR" altLang="en-US" sz="1200" dirty="0"/>
              <a:t>유압</a:t>
            </a:r>
            <a:r>
              <a:rPr lang="en-US" altLang="ko-KR" sz="1200" dirty="0"/>
              <a:t>·</a:t>
            </a:r>
            <a:r>
              <a:rPr lang="ko-KR" altLang="en-US" sz="1200" dirty="0" err="1"/>
              <a:t>공압</a:t>
            </a:r>
            <a:r>
              <a:rPr lang="ko-KR" altLang="en-US" sz="1200" dirty="0"/>
              <a:t> 등의 에너지를 기계적 동작으로 바꿔주는 장치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- </a:t>
            </a:r>
            <a:r>
              <a:rPr lang="ko-KR" altLang="en-US" sz="1200" dirty="0"/>
              <a:t>전기</a:t>
            </a:r>
            <a:r>
              <a:rPr lang="en-US" altLang="ko-KR" sz="1200" dirty="0"/>
              <a:t>, </a:t>
            </a:r>
            <a:r>
              <a:rPr lang="ko-KR" altLang="en-US" sz="1200" dirty="0"/>
              <a:t>유압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공압</a:t>
            </a:r>
            <a:r>
              <a:rPr lang="ko-KR" altLang="en-US" sz="1200" dirty="0"/>
              <a:t> 등을 이용해 로봇 팔</a:t>
            </a:r>
            <a:r>
              <a:rPr lang="en-US" altLang="ko-KR" sz="1200" dirty="0"/>
              <a:t>, </a:t>
            </a:r>
            <a:r>
              <a:rPr lang="ko-KR" altLang="en-US" sz="1200" dirty="0"/>
              <a:t>다리</a:t>
            </a:r>
            <a:r>
              <a:rPr lang="en-US" altLang="ko-KR" sz="1200" dirty="0"/>
              <a:t>, </a:t>
            </a:r>
            <a:r>
              <a:rPr lang="ko-KR" altLang="en-US" sz="1200" dirty="0"/>
              <a:t>바퀴 등을 구동</a:t>
            </a:r>
            <a:endParaRPr lang="en-US" altLang="ko-KR" sz="1200" dirty="0"/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- </a:t>
            </a:r>
            <a:r>
              <a:rPr lang="ko-KR" altLang="en-US" sz="1200" dirty="0"/>
              <a:t>로봇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드론</a:t>
            </a:r>
            <a:r>
              <a:rPr lang="en-US" altLang="ko-KR" sz="1200" dirty="0"/>
              <a:t>, </a:t>
            </a:r>
            <a:r>
              <a:rPr lang="ko-KR" altLang="en-US" sz="1200" dirty="0"/>
              <a:t>자동화 장비</a:t>
            </a:r>
            <a:r>
              <a:rPr lang="en-US" altLang="ko-KR" sz="1200" dirty="0"/>
              <a:t>, </a:t>
            </a:r>
            <a:r>
              <a:rPr lang="ko-KR" altLang="en-US" sz="1200" dirty="0"/>
              <a:t>산업기계 등 다양한 분야 필수 부품</a:t>
            </a:r>
            <a:endParaRPr lang="en-US" altLang="ko-KR" sz="1200" dirty="0"/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- </a:t>
            </a:r>
            <a:r>
              <a:rPr lang="ko-KR" altLang="en-US" sz="1200" dirty="0"/>
              <a:t>로봇 전체 원가의 </a:t>
            </a:r>
            <a:r>
              <a:rPr lang="en-US" altLang="ko-KR" sz="1200" dirty="0"/>
              <a:t>70~80%</a:t>
            </a:r>
            <a:r>
              <a:rPr lang="ko-KR" altLang="en-US" sz="1200" dirty="0"/>
              <a:t>가 </a:t>
            </a:r>
            <a:r>
              <a:rPr lang="ko-KR" altLang="en-US" sz="1200" dirty="0" err="1"/>
              <a:t>액츄에이터</a:t>
            </a:r>
            <a:r>
              <a:rPr lang="ko-KR" altLang="en-US" sz="1200" dirty="0"/>
              <a:t> 관련 부품에서 발생</a:t>
            </a:r>
            <a:endParaRPr lang="en-US" altLang="ko-KR" sz="12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506AC80-F690-DC83-ACCE-0BF38531D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수요기업 </a:t>
            </a:r>
            <a:r>
              <a:rPr lang="en-US" altLang="ko-KR" dirty="0"/>
              <a:t>SW </a:t>
            </a:r>
            <a:r>
              <a:rPr lang="ko-KR" altLang="en-US" dirty="0"/>
              <a:t>적용</a:t>
            </a:r>
            <a:endParaRPr lang="en-US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26CDFA15-D611-3FE1-BC86-0331BB3D4D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세부 계획</a:t>
            </a:r>
            <a:endParaRPr lang="en-US" altLang="ko-KR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6188ECC-DB54-3546-8E32-F7DBF05F3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344007"/>
              </p:ext>
            </p:extLst>
          </p:nvPr>
        </p:nvGraphicFramePr>
        <p:xfrm>
          <a:off x="397187" y="2582151"/>
          <a:ext cx="6537909" cy="1554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80386">
                  <a:extLst>
                    <a:ext uri="{9D8B030D-6E8A-4147-A177-3AD203B41FA5}">
                      <a16:colId xmlns:a16="http://schemas.microsoft.com/office/drawing/2014/main" val="334323655"/>
                    </a:ext>
                  </a:extLst>
                </a:gridCol>
                <a:gridCol w="5457523">
                  <a:extLst>
                    <a:ext uri="{9D8B030D-6E8A-4147-A177-3AD203B41FA5}">
                      <a16:colId xmlns:a16="http://schemas.microsoft.com/office/drawing/2014/main" val="3213410393"/>
                    </a:ext>
                  </a:extLst>
                </a:gridCol>
              </a:tblGrid>
              <a:tr h="178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제품명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9290993"/>
                  </a:ext>
                </a:extLst>
              </a:tr>
              <a:tr h="178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Indy </a:t>
                      </a:r>
                      <a:r>
                        <a:rPr lang="ko-KR" altLang="en-US" sz="1100" b="1"/>
                        <a:t>시리즈</a:t>
                      </a:r>
                      <a:endParaRPr lang="ko-KR" altLang="en-US" sz="1100"/>
                    </a:p>
                  </a:txBody>
                  <a:tcPr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협동로봇</a:t>
                      </a:r>
                      <a:r>
                        <a:rPr lang="en-US" altLang="ko-KR" sz="1100" dirty="0"/>
                        <a:t>. </a:t>
                      </a:r>
                      <a:r>
                        <a:rPr lang="ko-KR" altLang="en-US" sz="1100" dirty="0"/>
                        <a:t>충돌 감지 알고리즘과 임피던스 제어로 안전하고 직관적인 작업 가능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3192341"/>
                  </a:ext>
                </a:extLst>
              </a:tr>
              <a:tr h="178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Moby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/>
                        <a:t>자율이동로봇</a:t>
                      </a:r>
                      <a:r>
                        <a:rPr lang="en-US" altLang="ko-KR" sz="1100"/>
                        <a:t>(AMR). Indy</a:t>
                      </a:r>
                      <a:r>
                        <a:rPr lang="ko-KR" altLang="en-US" sz="1100"/>
                        <a:t>와 결합해 물류</a:t>
                      </a:r>
                      <a:r>
                        <a:rPr lang="en-US" altLang="ko-KR" sz="1100"/>
                        <a:t>·</a:t>
                      </a:r>
                      <a:r>
                        <a:rPr lang="ko-KR" altLang="en-US" sz="1100"/>
                        <a:t>순찰</a:t>
                      </a:r>
                      <a:r>
                        <a:rPr lang="en-US" altLang="ko-KR" sz="1100"/>
                        <a:t>·</a:t>
                      </a:r>
                      <a:r>
                        <a:rPr lang="ko-KR" altLang="en-US" sz="1100"/>
                        <a:t>안내 등 다양한 작업 수행 가능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5202511"/>
                  </a:ext>
                </a:extLst>
              </a:tr>
              <a:tr h="178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D </a:t>
                      </a:r>
                      <a:r>
                        <a:rPr lang="ko-KR" altLang="en-US" sz="1100" b="1"/>
                        <a:t>시리즈</a:t>
                      </a:r>
                      <a:endParaRPr lang="ko-KR" altLang="en-US" sz="1100"/>
                    </a:p>
                  </a:txBody>
                  <a:tcPr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/>
                        <a:t>델타로봇</a:t>
                      </a:r>
                      <a:r>
                        <a:rPr lang="en-US" altLang="ko-KR" sz="1100"/>
                        <a:t>. </a:t>
                      </a:r>
                      <a:r>
                        <a:rPr lang="ko-KR" altLang="en-US" sz="1100"/>
                        <a:t>고속</a:t>
                      </a:r>
                      <a:r>
                        <a:rPr lang="en-US" altLang="ko-KR" sz="1100"/>
                        <a:t>·</a:t>
                      </a:r>
                      <a:r>
                        <a:rPr lang="ko-KR" altLang="en-US" sz="1100"/>
                        <a:t>고정밀 작업에 적합</a:t>
                      </a:r>
                      <a:r>
                        <a:rPr lang="en-US" altLang="ko-KR" sz="1100"/>
                        <a:t>. </a:t>
                      </a:r>
                      <a:r>
                        <a:rPr lang="ko-KR" altLang="en-US" sz="1100"/>
                        <a:t>식품</a:t>
                      </a:r>
                      <a:r>
                        <a:rPr lang="en-US" altLang="ko-KR" sz="1100"/>
                        <a:t>·</a:t>
                      </a:r>
                      <a:r>
                        <a:rPr lang="ko-KR" altLang="en-US" sz="1100"/>
                        <a:t>의약품</a:t>
                      </a:r>
                      <a:r>
                        <a:rPr lang="en-US" altLang="ko-KR" sz="1100"/>
                        <a:t>·</a:t>
                      </a:r>
                      <a:r>
                        <a:rPr lang="ko-KR" altLang="en-US" sz="1100"/>
                        <a:t>전자 부품 산업에 활용됨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390336"/>
                  </a:ext>
                </a:extLst>
              </a:tr>
              <a:tr h="254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CORE </a:t>
                      </a:r>
                      <a:r>
                        <a:rPr lang="ko-KR" altLang="en-US" sz="1100" b="1"/>
                        <a:t>시리즈</a:t>
                      </a:r>
                      <a:endParaRPr lang="ko-KR" altLang="en-US" sz="1100"/>
                    </a:p>
                  </a:txBody>
                  <a:tcPr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스마트 </a:t>
                      </a:r>
                      <a:r>
                        <a:rPr lang="ko-KR" altLang="en-US" sz="1100" dirty="0" err="1"/>
                        <a:t>액츄에이터</a:t>
                      </a:r>
                      <a:r>
                        <a:rPr lang="en-US" altLang="ko-KR" sz="1100" dirty="0"/>
                        <a:t>. </a:t>
                      </a:r>
                      <a:r>
                        <a:rPr lang="en-US" altLang="ko-KR" sz="1100" dirty="0" err="1"/>
                        <a:t>EtherCAT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기반의 고성능 관절 구동 모듈로 로봇 설계에 최적화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7489180"/>
                  </a:ext>
                </a:extLst>
              </a:tr>
              <a:tr h="178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/>
                        <a:t>STEP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실시간 로봇 제어기</a:t>
                      </a:r>
                      <a:r>
                        <a:rPr lang="en-US" altLang="ko-KR" sz="1100" dirty="0"/>
                        <a:t>. </a:t>
                      </a:r>
                      <a:r>
                        <a:rPr lang="ko-KR" altLang="en-US" sz="1100" dirty="0"/>
                        <a:t>고속 제어와 딥러닝 추론 기능 탑재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84600"/>
                  </a:ext>
                </a:extLst>
              </a:tr>
            </a:tbl>
          </a:graphicData>
        </a:graphic>
      </p:graphicFrame>
      <p:pic>
        <p:nvPicPr>
          <p:cNvPr id="8" name="Picture 2">
            <a:extLst>
              <a:ext uri="{FF2B5EF4-FFF2-40B4-BE49-F238E27FC236}">
                <a16:creationId xmlns:a16="http://schemas.microsoft.com/office/drawing/2014/main" id="{17DA471E-5D21-64E9-AF0D-64DA3A27F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002" y="2489408"/>
            <a:ext cx="803985" cy="556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07C0C354-581E-B133-AB35-FA1766A38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1096" y="2566023"/>
            <a:ext cx="775107" cy="1256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C5577321-C279-721C-EE26-3CCEFBDE5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601" y="2576372"/>
            <a:ext cx="657908" cy="1333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EDEB13DF-9857-DCC9-5535-2C34DD74C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002" y="3045935"/>
            <a:ext cx="984769" cy="1146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0B7C36-CE9A-FFCB-DE8D-3922B472009D}"/>
              </a:ext>
            </a:extLst>
          </p:cNvPr>
          <p:cNvSpPr txBox="1"/>
          <p:nvPr/>
        </p:nvSpPr>
        <p:spPr>
          <a:xfrm>
            <a:off x="5119556" y="4968654"/>
            <a:ext cx="4293163" cy="108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🔧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주요 구성 요소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모터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로봇의 움직임을 발생시키는 동력원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감속기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정밀한 동작을 위해 속도를 줄이고 토크를 증가시킴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엔코더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위치와 속도를 측정해 제어 정확도를 높임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629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485DA41-E0A0-46A2-8C4A-9A799042AE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/>
              <a:t>과제 목표 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297A51F-4EC2-4018-8315-D5553DA55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76562"/>
            <a:ext cx="8543925" cy="400110"/>
          </a:xfr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수요기업 </a:t>
            </a:r>
            <a:r>
              <a:rPr lang="en-US" altLang="ko-KR" dirty="0"/>
              <a:t>SW </a:t>
            </a:r>
            <a:r>
              <a:rPr lang="ko-KR" altLang="en-US" dirty="0"/>
              <a:t>적용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53B338-A845-4853-9BD9-18F00B2BBC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세부 계획</a:t>
            </a:r>
            <a:endParaRPr lang="en-US" altLang="ko-KR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BE6B1D7-47B0-2E62-5BA0-1D9F09841A35}"/>
              </a:ext>
            </a:extLst>
          </p:cNvPr>
          <p:cNvGrpSpPr/>
          <p:nvPr/>
        </p:nvGrpSpPr>
        <p:grpSpPr>
          <a:xfrm>
            <a:off x="1111252" y="1903230"/>
            <a:ext cx="7470773" cy="3230106"/>
            <a:chOff x="1111252" y="2389644"/>
            <a:chExt cx="7470773" cy="2369366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02FC43A-84F5-B807-F43F-79FD337DDCE4}"/>
                </a:ext>
              </a:extLst>
            </p:cNvPr>
            <p:cNvSpPr/>
            <p:nvPr/>
          </p:nvSpPr>
          <p:spPr>
            <a:xfrm>
              <a:off x="4174137" y="3217530"/>
              <a:ext cx="4407888" cy="7089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72000" rIns="72000" rtlCol="0" anchor="ctr"/>
            <a:lstStyle/>
            <a:p>
              <a:pPr marL="269875" lvl="1" indent="-182563">
                <a:buFont typeface="Arial" panose="020B0604020202020204" pitchFamily="34" charset="0"/>
                <a:buChar char="•"/>
              </a:pPr>
              <a:r>
                <a:rPr lang="ko-KR" altLang="en-US" b="0" dirty="0">
                  <a:solidFill>
                    <a:schemeClr val="tx1"/>
                  </a:solidFill>
                  <a:latin typeface="+mn-ea"/>
                </a:rPr>
                <a:t>수요기업 보유 데이터 및 진동 센서로부터 수집한 데이터 기반 이상진단 모델 개발</a:t>
              </a:r>
              <a:endParaRPr lang="en-US" altLang="ko-KR" b="0" dirty="0">
                <a:solidFill>
                  <a:schemeClr val="tx1"/>
                </a:solidFill>
                <a:latin typeface="+mn-ea"/>
              </a:endParaRPr>
            </a:p>
            <a:p>
              <a:pPr marL="269875" lvl="1" indent="-182563">
                <a:buFont typeface="Arial" panose="020B0604020202020204" pitchFamily="34" charset="0"/>
                <a:buChar char="•"/>
              </a:pPr>
              <a:r>
                <a:rPr lang="en-US" altLang="ko-KR" b="0" dirty="0">
                  <a:solidFill>
                    <a:schemeClr val="tx1"/>
                  </a:solidFill>
                  <a:latin typeface="+mn-ea"/>
                </a:rPr>
                <a:t>No-Code</a:t>
              </a:r>
              <a:r>
                <a:rPr lang="ko-KR" altLang="en-US" b="0" dirty="0">
                  <a:solidFill>
                    <a:schemeClr val="tx1"/>
                  </a:solidFill>
                  <a:latin typeface="+mn-ea"/>
                </a:rPr>
                <a:t>기반 모델 개발 및 적용</a:t>
              </a:r>
              <a:endParaRPr lang="en-US" altLang="ko-KR" b="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FE1A888-9077-05B3-991D-EC3870B4859D}"/>
                </a:ext>
              </a:extLst>
            </p:cNvPr>
            <p:cNvSpPr/>
            <p:nvPr/>
          </p:nvSpPr>
          <p:spPr>
            <a:xfrm>
              <a:off x="1111252" y="3217530"/>
              <a:ext cx="1464177" cy="708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fontAlgn="ctr"/>
              <a:r>
                <a:rPr lang="ko-KR" altLang="en-US" b="1" i="0" u="none" strike="noStrike" dirty="0">
                  <a:solidFill>
                    <a:schemeClr val="bg1">
                      <a:lumMod val="95000"/>
                    </a:schemeClr>
                  </a:solidFill>
                  <a:effectLst/>
                  <a:latin typeface="맑은 고딕" panose="020B0503020000020004" pitchFamily="50" charset="-127"/>
                  <a:ea typeface="+mn-ea"/>
                </a:rPr>
                <a:t>진동분석 모델</a:t>
              </a:r>
              <a:endParaRPr lang="en-US" altLang="ko-KR" b="1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맑은 고딕" panose="020B0503020000020004" pitchFamily="50" charset="-127"/>
                <a:ea typeface="+mn-ea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611E057-33CA-980A-11D3-EA349136C1AF}"/>
                </a:ext>
              </a:extLst>
            </p:cNvPr>
            <p:cNvSpPr/>
            <p:nvPr/>
          </p:nvSpPr>
          <p:spPr>
            <a:xfrm>
              <a:off x="2575429" y="3217530"/>
              <a:ext cx="1598708" cy="708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b="0" dirty="0">
                  <a:solidFill>
                    <a:schemeClr val="tx1"/>
                  </a:solidFill>
                  <a:latin typeface="+mn-ea"/>
                  <a:ea typeface="+mn-ea"/>
                </a:rPr>
                <a:t>다양한 알고리즘 적용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29E790C-EA55-AC90-7906-48B3D590D6C6}"/>
                </a:ext>
              </a:extLst>
            </p:cNvPr>
            <p:cNvSpPr/>
            <p:nvPr/>
          </p:nvSpPr>
          <p:spPr>
            <a:xfrm>
              <a:off x="4174137" y="4050060"/>
              <a:ext cx="4407888" cy="7089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72000" rIns="72000" rtlCol="0" anchor="ctr"/>
            <a:lstStyle/>
            <a:p>
              <a:pPr marL="269875" lvl="1" indent="-182563" eaLnBrk="1" hangingPunct="1">
                <a:buFont typeface="Arial" panose="020B0604020202020204" pitchFamily="34" charset="0"/>
                <a:buChar char="•"/>
              </a:pPr>
              <a:r>
                <a:rPr lang="ko-KR" altLang="en-US" b="0" dirty="0">
                  <a:latin typeface="+mn-ea"/>
                </a:rPr>
                <a:t>진동</a:t>
              </a:r>
              <a:r>
                <a:rPr lang="en-US" altLang="ko-KR" b="0" dirty="0">
                  <a:latin typeface="+mn-ea"/>
                </a:rPr>
                <a:t> </a:t>
              </a:r>
              <a:r>
                <a:rPr lang="ko-KR" altLang="en-US" b="0" dirty="0">
                  <a:latin typeface="+mn-ea"/>
                </a:rPr>
                <a:t>분석</a:t>
              </a:r>
              <a:r>
                <a:rPr lang="en-US" altLang="ko-KR" b="0" dirty="0">
                  <a:latin typeface="+mn-ea"/>
                </a:rPr>
                <a:t> </a:t>
              </a:r>
              <a:r>
                <a:rPr lang="ko-KR" altLang="en-US" b="0" dirty="0">
                  <a:latin typeface="+mn-ea"/>
                </a:rPr>
                <a:t>결과 모니터링</a:t>
              </a:r>
              <a:endParaRPr lang="ko-KR" altLang="en-US" b="0" dirty="0">
                <a:latin typeface="+mn-ea"/>
                <a:ea typeface="+mn-ea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FB84B2E-6CF1-0213-15FD-50DDC4936ED3}"/>
                </a:ext>
              </a:extLst>
            </p:cNvPr>
            <p:cNvSpPr/>
            <p:nvPr/>
          </p:nvSpPr>
          <p:spPr>
            <a:xfrm>
              <a:off x="1111252" y="4050060"/>
              <a:ext cx="1464177" cy="70895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fontAlgn="ctr"/>
              <a:r>
                <a:rPr lang="ko-KR" altLang="en-US" b="1" i="0" u="none" strike="noStrike" dirty="0">
                  <a:solidFill>
                    <a:schemeClr val="bg1">
                      <a:lumMod val="95000"/>
                    </a:schemeClr>
                  </a:solidFill>
                  <a:effectLst/>
                  <a:latin typeface="맑은 고딕" panose="020B0503020000020004" pitchFamily="50" charset="-127"/>
                  <a:ea typeface="+mn-ea"/>
                </a:rPr>
                <a:t>추론 결과</a:t>
              </a:r>
              <a:endParaRPr lang="en-US" altLang="ko-KR" b="1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맑은 고딕" panose="020B0503020000020004" pitchFamily="50" charset="-127"/>
                <a:ea typeface="+mn-ea"/>
              </a:endParaRPr>
            </a:p>
            <a:p>
              <a:pPr algn="ctr" fontAlgn="ctr"/>
              <a:r>
                <a:rPr lang="ko-KR" altLang="en-US" b="1" i="0" u="none" strike="noStrike" dirty="0">
                  <a:solidFill>
                    <a:schemeClr val="bg1">
                      <a:lumMod val="95000"/>
                    </a:schemeClr>
                  </a:solidFill>
                  <a:effectLst/>
                  <a:latin typeface="맑은 고딕" panose="020B0503020000020004" pitchFamily="50" charset="-127"/>
                  <a:ea typeface="+mn-ea"/>
                </a:rPr>
                <a:t>모니터링</a:t>
              </a:r>
              <a:endParaRPr lang="en-US" altLang="ko-KR" b="1" i="0" u="none" strike="noStrike" dirty="0">
                <a:solidFill>
                  <a:schemeClr val="bg1">
                    <a:lumMod val="95000"/>
                  </a:schemeClr>
                </a:solidFill>
                <a:effectLst/>
                <a:latin typeface="맑은 고딕" panose="020B0503020000020004" pitchFamily="50" charset="-127"/>
                <a:ea typeface="+mn-ea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E5D2C96E-0108-1DCB-4D46-C985A5009475}"/>
                </a:ext>
              </a:extLst>
            </p:cNvPr>
            <p:cNvSpPr/>
            <p:nvPr/>
          </p:nvSpPr>
          <p:spPr>
            <a:xfrm>
              <a:off x="2575429" y="4050060"/>
              <a:ext cx="1598708" cy="70895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b="0" dirty="0">
                  <a:solidFill>
                    <a:schemeClr val="tx1"/>
                  </a:solidFill>
                  <a:latin typeface="+mn-ea"/>
                  <a:ea typeface="+mn-ea"/>
                </a:rPr>
                <a:t>실시간 모니터링</a:t>
              </a:r>
            </a:p>
          </p:txBody>
        </p:sp>
        <p:sp>
          <p:nvSpPr>
            <p:cNvPr id="19" name="이등변 삼각형 18">
              <a:extLst>
                <a:ext uri="{FF2B5EF4-FFF2-40B4-BE49-F238E27FC236}">
                  <a16:creationId xmlns:a16="http://schemas.microsoft.com/office/drawing/2014/main" id="{37720FE1-3D9C-E656-6CD5-AD263087B356}"/>
                </a:ext>
              </a:extLst>
            </p:cNvPr>
            <p:cNvSpPr/>
            <p:nvPr/>
          </p:nvSpPr>
          <p:spPr bwMode="auto">
            <a:xfrm rot="10800000" flipV="1">
              <a:off x="2227058" y="2853573"/>
              <a:ext cx="5239159" cy="240377"/>
            </a:xfrm>
            <a:prstGeom prst="triangl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</a:gradFill>
            <a:ln w="3175"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endParaRPr lang="ko-KR" altLang="en-US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4BF545A-1664-4278-91BE-D04343D7F62B}"/>
                </a:ext>
              </a:extLst>
            </p:cNvPr>
            <p:cNvSpPr txBox="1"/>
            <p:nvPr/>
          </p:nvSpPr>
          <p:spPr>
            <a:xfrm>
              <a:off x="1891474" y="2389644"/>
              <a:ext cx="591032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87312" lvl="1" algn="ctr" eaLnBrk="1" hangingPunct="1"/>
              <a:r>
                <a:rPr lang="ko-KR" altLang="en-US" sz="1600" dirty="0" err="1">
                  <a:latin typeface="+mn-ea"/>
                  <a:ea typeface="+mn-ea"/>
                </a:rPr>
                <a:t>액츄에이터</a:t>
              </a:r>
              <a:r>
                <a:rPr lang="ko-KR" altLang="en-US" sz="1600" dirty="0">
                  <a:latin typeface="+mn-ea"/>
                  <a:ea typeface="+mn-ea"/>
                </a:rPr>
                <a:t> 진동분석을 통한 품질이상진단 모델 개발 및 실증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3357946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AA0CA"/>
        </a:solidFill>
        <a:ln>
          <a:noFill/>
        </a:ln>
        <a:effectLst/>
      </a:spPr>
      <a:bodyPr rtlCol="0" anchor="ctr"/>
      <a:lstStyle>
        <a:defPPr algn="ctr" defTabSz="911896">
          <a:defRPr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제조분야 사업 실적_수정안</Template>
  <TotalTime>82991</TotalTime>
  <Words>323</Words>
  <Application>Microsoft Macintosh PowerPoint</Application>
  <PresentationFormat>A4 용지(210x297mm)</PresentationFormat>
  <Paragraphs>48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굴림</vt:lpstr>
      <vt:lpstr>맑은 고딕</vt:lpstr>
      <vt:lpstr>Arial</vt:lpstr>
      <vt:lpstr>Times New Roman</vt:lpstr>
      <vt:lpstr>Wingdings</vt:lpstr>
      <vt:lpstr>1_디자인 사용자 지정</vt:lpstr>
      <vt:lpstr>3. 수요기업 SW 적용</vt:lpstr>
      <vt:lpstr>3. 수요기업 SW 적용</vt:lpstr>
    </vt:vector>
  </TitlesOfParts>
  <Company>ECMIner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ECMiner</dc:creator>
  <cp:lastModifiedBy>동욱 이</cp:lastModifiedBy>
  <cp:revision>4747</cp:revision>
  <cp:lastPrinted>2025-07-28T04:15:23Z</cp:lastPrinted>
  <dcterms:created xsi:type="dcterms:W3CDTF">2011-12-28T05:39:44Z</dcterms:created>
  <dcterms:modified xsi:type="dcterms:W3CDTF">2025-11-18T04:28:27Z</dcterms:modified>
</cp:coreProperties>
</file>